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E1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920240"/>
            <a:ext cx="105156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5400" b="1">
                <a:solidFill>
                  <a:srgbClr val="6ECDBD"/>
                </a:solidFill>
                <a:latin typeface="Consolas"/>
              </a:rPr>
              <a:t>🗺️  GEOBARD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3063240"/>
            <a:ext cx="105156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000" b="1">
                <a:solidFill>
                  <a:srgbClr val="E9E3D3"/>
                </a:solidFill>
                <a:latin typeface="Georgia"/>
              </a:rPr>
              <a:t>Turn GeoJSON into prose.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3886200"/>
            <a:ext cx="100584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000" b="0">
                <a:solidFill>
                  <a:srgbClr val="96917F"/>
                </a:solidFill>
                <a:latin typeface="Georgia"/>
              </a:rPr>
              <a:t>The open-source narration engine of </a:t>
            </a:r>
            <a:r>
              <a:rPr sz="2000" b="0">
                <a:solidFill>
                  <a:srgbClr val="6ECDBD"/>
                </a:solidFill>
                <a:latin typeface="Georgia"/>
              </a:rPr>
              <a:t>GaiaWM</a:t>
            </a:r>
            <a:r>
              <a:rPr sz="2000" b="0">
                <a:solidFill>
                  <a:srgbClr val="96917F"/>
                </a:solidFill>
                <a:latin typeface="Georgia"/>
              </a:rPr>
              <a:t> — where map data becomes what an agent </a:t>
            </a:r>
            <a:r>
              <a:rPr sz="2000" b="1">
                <a:solidFill>
                  <a:srgbClr val="E9E3D3"/>
                </a:solidFill>
                <a:latin typeface="Georgia"/>
              </a:rPr>
              <a:t>sees</a:t>
            </a:r>
            <a:r>
              <a:rPr sz="2000" b="0">
                <a:solidFill>
                  <a:srgbClr val="96917F"/>
                </a:solidFill>
                <a:latin typeface="Georgia"/>
              </a:rPr>
              <a:t>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5760720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>
                <a:solidFill>
                  <a:srgbClr val="6C6A5F"/>
                </a:solidFill>
                <a:latin typeface="Consolas"/>
              </a:rPr>
              <a:t>github.com/openfantasymap/geobard   ·   MIT / Apache-2.0   ·   v0.1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E1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02920"/>
            <a:ext cx="7315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1">
                <a:solidFill>
                  <a:srgbClr val="1FA890"/>
                </a:solidFill>
                <a:latin typeface="Consolas"/>
              </a:rPr>
              <a:t>PROLOGUE · 1937 → 2001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51560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800" b="1">
                <a:solidFill>
                  <a:srgbClr val="E9E3D3"/>
                </a:solidFill>
                <a:latin typeface="Georgia"/>
              </a:rPr>
              <a:t>Prose renders worlds.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965960"/>
            <a:ext cx="5120640" cy="2148840"/>
          </a:xfrm>
          <a:prstGeom prst="roundRect">
            <a:avLst/>
          </a:prstGeom>
          <a:solidFill>
            <a:srgbClr val="101521"/>
          </a:solidFill>
          <a:ln w="12700">
            <a:solidFill>
              <a:srgbClr val="242C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1560" y="2130552"/>
            <a:ext cx="4663440" cy="18196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1">
                <a:solidFill>
                  <a:srgbClr val="E09B63"/>
                </a:solidFill>
                <a:latin typeface="Consolas"/>
              </a:rPr>
              <a:t>j.r.r. tolkien · the hobbit, 1937</a:t>
            </a:r>
          </a:p>
          <a:p>
            <a:pPr algn="l">
              <a:lnSpc>
                <a:spcPct val="130000"/>
              </a:lnSpc>
            </a:pPr>
            <a:r>
              <a:rPr sz="1300" b="0">
                <a:solidFill>
                  <a:srgbClr val="E9E3D3"/>
                </a:solidFill>
                <a:latin typeface="Consolas"/>
              </a:rPr>
              <a:t>“In a hole in the ground there lived</a:t>
            </a:r>
          </a:p>
          <a:p>
            <a:pPr algn="l">
              <a:lnSpc>
                <a:spcPct val="130000"/>
              </a:lnSpc>
            </a:pPr>
            <a:r>
              <a:rPr sz="1300" b="0">
                <a:solidFill>
                  <a:srgbClr val="E9E3D3"/>
                </a:solidFill>
                <a:latin typeface="Consolas"/>
              </a:rPr>
              <a:t> a hobbit. Not a nasty, dirty, wet</a:t>
            </a:r>
          </a:p>
          <a:p>
            <a:pPr algn="l">
              <a:lnSpc>
                <a:spcPct val="130000"/>
              </a:lnSpc>
            </a:pPr>
            <a:r>
              <a:rPr sz="1300" b="0">
                <a:solidFill>
                  <a:srgbClr val="E9E3D3"/>
                </a:solidFill>
                <a:latin typeface="Consolas"/>
              </a:rPr>
              <a:t> hole… it was a hobbit-hole, and</a:t>
            </a:r>
          </a:p>
          <a:p>
            <a:pPr algn="l">
              <a:lnSpc>
                <a:spcPct val="130000"/>
              </a:lnSpc>
            </a:pPr>
            <a:r>
              <a:rPr sz="1300" b="0">
                <a:solidFill>
                  <a:srgbClr val="E9E3D3"/>
                </a:solidFill>
                <a:latin typeface="Consolas"/>
              </a:rPr>
              <a:t> that means comfort.”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35040" y="2697480"/>
            <a:ext cx="6400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400" b="1">
                <a:solidFill>
                  <a:srgbClr val="6ECDBD"/>
                </a:solidFill>
                <a:latin typeface="Consolas"/>
              </a:rPr>
              <a:t>→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720840" y="1965960"/>
            <a:ext cx="4754880" cy="2148840"/>
          </a:xfrm>
          <a:prstGeom prst="roundRect">
            <a:avLst/>
          </a:prstGeom>
          <a:solidFill>
            <a:srgbClr val="101521"/>
          </a:solidFill>
          <a:ln w="12700">
            <a:solidFill>
              <a:srgbClr val="242C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949440" y="2130552"/>
            <a:ext cx="4297680" cy="18196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1">
                <a:solidFill>
                  <a:srgbClr val="E09B63"/>
                </a:solidFill>
                <a:latin typeface="Consolas"/>
              </a:rPr>
              <a:t>peter jackson · fellowship, 2001</a:t>
            </a:r>
          </a:p>
          <a:p>
            <a:pPr algn="l">
              <a:lnSpc>
                <a:spcPct val="130000"/>
              </a:lnSpc>
            </a:pPr>
            <a:r>
              <a:rPr sz="1300" b="0">
                <a:solidFill>
                  <a:srgbClr val="E9E3D3"/>
                </a:solidFill>
                <a:latin typeface="Consolas"/>
              </a:rPr>
              <a:t>The round green door. The Party Tree.</a:t>
            </a:r>
          </a:p>
          <a:p>
            <a:pPr algn="l">
              <a:lnSpc>
                <a:spcPct val="130000"/>
              </a:lnSpc>
            </a:pPr>
            <a:r>
              <a:rPr sz="1300" b="0">
                <a:solidFill>
                  <a:srgbClr val="E9E3D3"/>
                </a:solidFill>
                <a:latin typeface="Consolas"/>
              </a:rPr>
              <a:t>Smoke over terraced gardens — Hobbiton</a:t>
            </a:r>
          </a:p>
          <a:p>
            <a:pPr algn="l">
              <a:lnSpc>
                <a:spcPct val="130000"/>
              </a:lnSpc>
            </a:pPr>
            <a:r>
              <a:rPr sz="1300" b="0">
                <a:solidFill>
                  <a:srgbClr val="E9E3D3"/>
                </a:solidFill>
                <a:latin typeface="Consolas"/>
              </a:rPr>
              <a:t>built full-scale at Matamata, NZ, and</a:t>
            </a:r>
          </a:p>
          <a:p>
            <a:pPr algn="l">
              <a:lnSpc>
                <a:spcPct val="130000"/>
              </a:lnSpc>
            </a:pPr>
            <a:r>
              <a:rPr sz="1300" b="0">
                <a:solidFill>
                  <a:srgbClr val="E9E3D3"/>
                </a:solidFill>
                <a:latin typeface="Consolas"/>
              </a:rPr>
              <a:t>millions recognised a place they had</a:t>
            </a:r>
          </a:p>
          <a:p>
            <a:pPr algn="l">
              <a:lnSpc>
                <a:spcPct val="130000"/>
              </a:lnSpc>
            </a:pPr>
            <a:r>
              <a:rPr sz="1300" b="0">
                <a:solidFill>
                  <a:srgbClr val="E9E3D3"/>
                </a:solidFill>
                <a:latin typeface="Consolas"/>
              </a:rPr>
              <a:t>only ever read.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4526280"/>
            <a:ext cx="10515600" cy="4206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700" b="1">
                <a:solidFill>
                  <a:srgbClr val="6ECDBD"/>
                </a:solidFill>
                <a:latin typeface="Consolas"/>
              </a:rPr>
              <a:t>▸ </a:t>
            </a:r>
            <a:r>
              <a:rPr sz="1700" b="1">
                <a:solidFill>
                  <a:srgbClr val="E9E3D3"/>
                </a:solidFill>
                <a:latin typeface="Georgia"/>
              </a:rPr>
              <a:t>There is no film still on this slide</a:t>
            </a:r>
            <a:r>
              <a:rPr sz="1700" b="0">
                <a:solidFill>
                  <a:srgbClr val="96917F"/>
                </a:solidFill>
                <a:latin typeface="Georgia"/>
              </a:rPr>
              <a:t>  —  and yet you saw it.</a:t>
            </a:r>
          </a:p>
          <a:p>
            <a:pPr algn="l">
              <a:lnSpc>
                <a:spcPct val="150000"/>
              </a:lnSpc>
            </a:pPr>
            <a:r>
              <a:rPr sz="1700" b="1">
                <a:solidFill>
                  <a:srgbClr val="6ECDBD"/>
                </a:solidFill>
                <a:latin typeface="Consolas"/>
              </a:rPr>
              <a:t>▸ </a:t>
            </a:r>
            <a:r>
              <a:rPr sz="1700" b="1">
                <a:solidFill>
                  <a:srgbClr val="E9E3D3"/>
                </a:solidFill>
                <a:latin typeface="Georgia"/>
              </a:rPr>
              <a:t>Prose is the original rendering engine</a:t>
            </a:r>
            <a:r>
              <a:rPr sz="1700" b="0">
                <a:solidFill>
                  <a:srgbClr val="96917F"/>
                </a:solidFill>
                <a:latin typeface="Georgia"/>
              </a:rPr>
              <a:t>  —  a few lines, and everyone builds the same place.</a:t>
            </a:r>
          </a:p>
          <a:p>
            <a:pPr algn="l">
              <a:lnSpc>
                <a:spcPct val="150000"/>
              </a:lnSpc>
            </a:pPr>
            <a:r>
              <a:rPr sz="1700" b="1">
                <a:solidFill>
                  <a:srgbClr val="6ECDBD"/>
                </a:solidFill>
                <a:latin typeface="Consolas"/>
              </a:rPr>
              <a:t>▸ </a:t>
            </a:r>
            <a:r>
              <a:rPr sz="1700" b="1">
                <a:solidFill>
                  <a:srgbClr val="E9E3D3"/>
                </a:solidFill>
                <a:latin typeface="Georgia"/>
              </a:rPr>
              <a:t>geobard puts that engine on tap</a:t>
            </a:r>
            <a:r>
              <a:rPr sz="1700" b="0">
                <a:solidFill>
                  <a:srgbClr val="96917F"/>
                </a:solidFill>
                <a:latin typeface="Georgia"/>
              </a:rPr>
              <a:t>  —  data in, a place you can see out.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6419088"/>
            <a:ext cx="10515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>
                <a:solidFill>
                  <a:srgbClr val="6C6A5F"/>
                </a:solidFill>
                <a:latin typeface="Consolas"/>
              </a:rPr>
              <a:t>geobard — turn GeoJSON into prose</a:t>
            </a:r>
            <a:r>
              <a:rPr sz="1000" b="0">
                <a:solidFill>
                  <a:srgbClr val="6C6A5F"/>
                </a:solidFill>
                <a:latin typeface="Consolas"/>
              </a:rPr>
              <a:t>   ·   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E1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02920"/>
            <a:ext cx="7315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1">
                <a:solidFill>
                  <a:srgbClr val="1FA890"/>
                </a:solidFill>
                <a:latin typeface="Consolas"/>
              </a:rPr>
              <a:t>STEP 1 · THE SCENE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51560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400" b="1">
                <a:solidFill>
                  <a:srgbClr val="E9E3D3"/>
                </a:solidFill>
                <a:latin typeface="Georgia"/>
              </a:rPr>
              <a:t>A scene is data around a point of view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2011680"/>
            <a:ext cx="6400800" cy="3794760"/>
          </a:xfrm>
          <a:prstGeom prst="roundRect">
            <a:avLst/>
          </a:prstGeom>
          <a:solidFill>
            <a:srgbClr val="101521"/>
          </a:solidFill>
          <a:ln w="12700">
            <a:solidFill>
              <a:srgbClr val="242C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1560" y="2176272"/>
            <a:ext cx="5943600" cy="346557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>
                <a:solidFill>
                  <a:srgbClr val="E9E3D3"/>
                </a:solidFill>
                <a:latin typeface="Consolas"/>
              </a:rPr>
              <a:t>{ "pov": { "lon": -79.714, "lat": 48.834,</a:t>
            </a:r>
          </a:p>
          <a:p>
            <a:pPr algn="l">
              <a:lnSpc>
                <a:spcPct val="130000"/>
              </a:lnSpc>
            </a:pPr>
            <a:r>
              <a:rPr sz="1300" b="0">
                <a:solidFill>
                  <a:srgbClr val="E9E3D3"/>
                </a:solidFill>
                <a:latin typeface="Consolas"/>
              </a:rPr>
              <a:t>           "heading": "NE" },</a:t>
            </a:r>
          </a:p>
          <a:p>
            <a:pPr algn="l">
              <a:lnSpc>
                <a:spcPct val="130000"/>
              </a:lnSpc>
            </a:pPr>
            <a:r>
              <a:rPr sz="1300" b="0">
                <a:solidFill>
                  <a:srgbClr val="E9E3D3"/>
                </a:solidFill>
                <a:latin typeface="Consolas"/>
              </a:rPr>
              <a:t>  "features": [</a:t>
            </a:r>
          </a:p>
          <a:p>
            <a:pPr algn="l">
              <a:lnSpc>
                <a:spcPct val="130000"/>
              </a:lnSpc>
            </a:pPr>
            <a:r>
              <a:rPr sz="1300" b="0">
                <a:solidFill>
                  <a:srgbClr val="E9E3D3"/>
                </a:solidFill>
                <a:latin typeface="Consolas"/>
              </a:rPr>
              <a:t>    { "class": "city", "name": "Neverwinter",</a:t>
            </a:r>
          </a:p>
          <a:p>
            <a:pPr algn="l">
              <a:lnSpc>
                <a:spcPct val="130000"/>
              </a:lnSpc>
            </a:pPr>
            <a:r>
              <a:rPr sz="1300" b="0">
                <a:solidFill>
                  <a:srgbClr val="E9E3D3"/>
                </a:solidFill>
                <a:latin typeface="Consolas"/>
              </a:rPr>
              <a:t>      "distance_m": 1400, "bearing": 47,</a:t>
            </a:r>
          </a:p>
          <a:p>
            <a:pPr algn="l">
              <a:lnSpc>
                <a:spcPct val="130000"/>
              </a:lnSpc>
            </a:pPr>
            <a:r>
              <a:rPr sz="1300" b="0">
                <a:solidFill>
                  <a:srgbClr val="E09B63"/>
                </a:solidFill>
                <a:latin typeface="Consolas"/>
              </a:rPr>
              <a:t>      "lore": "jewel of the north, rebuilt</a:t>
            </a:r>
          </a:p>
          <a:p>
            <a:pPr algn="l">
              <a:lnSpc>
                <a:spcPct val="130000"/>
              </a:lnSpc>
            </a:pPr>
            <a:r>
              <a:rPr sz="1300" b="0">
                <a:solidFill>
                  <a:srgbClr val="E09B63"/>
                </a:solidFill>
                <a:latin typeface="Consolas"/>
              </a:rPr>
              <a:t>               after the cataclysm" },</a:t>
            </a:r>
          </a:p>
          <a:p>
            <a:pPr algn="l">
              <a:lnSpc>
                <a:spcPct val="130000"/>
              </a:lnSpc>
            </a:pPr>
            <a:r>
              <a:rPr sz="1300" b="0">
                <a:solidFill>
                  <a:srgbClr val="E9E3D3"/>
                </a:solidFill>
                <a:latin typeface="Consolas"/>
              </a:rPr>
              <a:t>    { "class": "road", "name": "High Road",</a:t>
            </a:r>
          </a:p>
          <a:p>
            <a:pPr algn="l">
              <a:lnSpc>
                <a:spcPct val="130000"/>
              </a:lnSpc>
            </a:pPr>
            <a:r>
              <a:rPr sz="1300" b="0">
                <a:solidFill>
                  <a:srgbClr val="E9E3D3"/>
                </a:solidFill>
                <a:latin typeface="Consolas"/>
              </a:rPr>
              <a:t>      "distance_m": 300, "bearing": 90 },</a:t>
            </a:r>
          </a:p>
          <a:p>
            <a:pPr algn="l">
              <a:lnSpc>
                <a:spcPct val="130000"/>
              </a:lnSpc>
            </a:pPr>
            <a:r>
              <a:rPr sz="1300" b="0">
                <a:solidFill>
                  <a:srgbClr val="E9E3D3"/>
                </a:solidFill>
                <a:latin typeface="Consolas"/>
              </a:rPr>
              <a:t>    { "class": "river", "name": "Neverwinter River",</a:t>
            </a:r>
          </a:p>
          <a:p>
            <a:pPr algn="l">
              <a:lnSpc>
                <a:spcPct val="130000"/>
              </a:lnSpc>
            </a:pPr>
            <a:r>
              <a:rPr sz="1300" b="0">
                <a:solidFill>
                  <a:srgbClr val="E9E3D3"/>
                </a:solidFill>
                <a:latin typeface="Consolas"/>
              </a:rPr>
              <a:t>      "distance_m": 900, "bearing": 15 } ] }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543800" y="2148840"/>
            <a:ext cx="3931920" cy="3840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1">
                <a:solidFill>
                  <a:srgbClr val="6ECDBD"/>
                </a:solidFill>
                <a:latin typeface="Georgia"/>
              </a:rPr>
              <a:t>anchored</a:t>
            </a:r>
          </a:p>
          <a:p>
            <a:pPr algn="l">
              <a:lnSpc>
                <a:spcPct val="130000"/>
              </a:lnSpc>
            </a:pPr>
            <a:r>
              <a:rPr sz="1500" b="0">
                <a:solidFill>
                  <a:srgbClr val="96917F"/>
                </a:solidFill>
                <a:latin typeface="Georgia"/>
              </a:rPr>
              <a:t>everything is relative to a pov — the question is always “what surrounds you?”</a:t>
            </a:r>
          </a:p>
          <a:p>
            <a:pPr algn="l">
              <a:lnSpc>
                <a:spcPct val="130000"/>
              </a:lnSpc>
            </a:pPr>
            <a:r>
              <a:rPr sz="1500" b="0">
                <a:solidFill>
                  <a:srgbClr val="96917F"/>
                </a:solidFill>
                <a:latin typeface="Georgia"/>
              </a:rPr>
              <a:t/>
            </a:r>
          </a:p>
          <a:p>
            <a:pPr algn="l">
              <a:lnSpc>
                <a:spcPct val="130000"/>
              </a:lnSpc>
            </a:pPr>
            <a:r>
              <a:rPr sz="1500" b="1">
                <a:solidFill>
                  <a:srgbClr val="6ECDBD"/>
                </a:solidFill>
                <a:latin typeface="Georgia"/>
              </a:rPr>
              <a:t>standard geometry</a:t>
            </a:r>
          </a:p>
          <a:p>
            <a:pPr algn="l">
              <a:lnSpc>
                <a:spcPct val="130000"/>
              </a:lnSpc>
            </a:pPr>
            <a:r>
              <a:rPr sz="1500" b="0">
                <a:solidFill>
                  <a:srgbClr val="96917F"/>
                </a:solidFill>
                <a:latin typeface="Georgia"/>
              </a:rPr>
              <a:t>GeoJSON from anywhere: a PostGIS sector query, SpatiaLite, a plain file.</a:t>
            </a:r>
          </a:p>
          <a:p>
            <a:pPr algn="l">
              <a:lnSpc>
                <a:spcPct val="130000"/>
              </a:lnSpc>
            </a:pPr>
            <a:r>
              <a:rPr sz="1500" b="0">
                <a:solidFill>
                  <a:srgbClr val="96917F"/>
                </a:solidFill>
                <a:latin typeface="Georgia"/>
              </a:rPr>
              <a:t/>
            </a:r>
          </a:p>
          <a:p>
            <a:pPr algn="l">
              <a:lnSpc>
                <a:spcPct val="130000"/>
              </a:lnSpc>
            </a:pPr>
            <a:r>
              <a:rPr sz="1500" b="1">
                <a:solidFill>
                  <a:srgbClr val="6ECDBD"/>
                </a:solidFill>
                <a:latin typeface="Georgia"/>
              </a:rPr>
              <a:t>lore rides along</a:t>
            </a:r>
          </a:p>
          <a:p>
            <a:pPr algn="l">
              <a:lnSpc>
                <a:spcPct val="130000"/>
              </a:lnSpc>
            </a:pPr>
            <a:r>
              <a:rPr sz="1500" b="0">
                <a:solidFill>
                  <a:srgbClr val="96917F"/>
                </a:solidFill>
                <a:latin typeface="Georgia"/>
              </a:rPr>
              <a:t>non-standard fields carry world context the narrator is told to use.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6419088"/>
            <a:ext cx="10515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>
                <a:solidFill>
                  <a:srgbClr val="6C6A5F"/>
                </a:solidFill>
                <a:latin typeface="Consolas"/>
              </a:rPr>
              <a:t>geobard — turn GeoJSON into prose</a:t>
            </a:r>
            <a:r>
              <a:rPr sz="1000" b="0">
                <a:solidFill>
                  <a:srgbClr val="6C6A5F"/>
                </a:solidFill>
                <a:latin typeface="Consolas"/>
              </a:rPr>
              <a:t>   ·   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E1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02920"/>
            <a:ext cx="7315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1">
                <a:solidFill>
                  <a:srgbClr val="1FA890"/>
                </a:solidFill>
                <a:latin typeface="Consolas"/>
              </a:rPr>
              <a:t>STEP 2 · THE FRAMING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51560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400" b="1">
                <a:solidFill>
                  <a:srgbClr val="E9E3D3"/>
                </a:solidFill>
                <a:latin typeface="Georgia"/>
              </a:rPr>
              <a:t>Rules of perception, not a schema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2011680"/>
            <a:ext cx="6400800" cy="3794760"/>
          </a:xfrm>
          <a:prstGeom prst="roundRect">
            <a:avLst/>
          </a:prstGeom>
          <a:solidFill>
            <a:srgbClr val="101521"/>
          </a:solidFill>
          <a:ln w="12700">
            <a:solidFill>
              <a:srgbClr val="242C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1560" y="2176272"/>
            <a:ext cx="5943600" cy="346557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1">
                <a:solidFill>
                  <a:srgbClr val="E09B63"/>
                </a:solidFill>
                <a:latin typeface="Consolas"/>
              </a:rPr>
              <a:t>the rules, verbatim from the product</a:t>
            </a:r>
          </a:p>
          <a:p>
            <a:pPr algn="l">
              <a:lnSpc>
                <a:spcPct val="130000"/>
              </a:lnSpc>
            </a:pPr>
            <a:r>
              <a:rPr sz="1300" b="0">
                <a:solidFill>
                  <a:srgbClr val="E9E3D3"/>
                </a:solidFill>
                <a:latin typeface="Consolas"/>
              </a:rPr>
              <a:t>- No technical or mapping language</a:t>
            </a:r>
          </a:p>
          <a:p>
            <a:pPr algn="l">
              <a:lnSpc>
                <a:spcPct val="130000"/>
              </a:lnSpc>
            </a:pPr>
            <a:r>
              <a:rPr sz="1300" b="0">
                <a:solidFill>
                  <a:srgbClr val="E9E3D3"/>
                </a:solidFill>
                <a:latin typeface="Consolas"/>
              </a:rPr>
              <a:t>- No coordinates or measurements</a:t>
            </a:r>
          </a:p>
          <a:p>
            <a:pPr algn="l">
              <a:lnSpc>
                <a:spcPct val="130000"/>
              </a:lnSpc>
            </a:pPr>
            <a:r>
              <a:rPr sz="1300" b="0">
                <a:solidFill>
                  <a:srgbClr val="E9E3D3"/>
                </a:solidFill>
                <a:latin typeface="Consolas"/>
              </a:rPr>
              <a:t>- Use visual, spatial, and sensory cues</a:t>
            </a:r>
          </a:p>
          <a:p>
            <a:pPr algn="l">
              <a:lnSpc>
                <a:spcPct val="130000"/>
              </a:lnSpc>
            </a:pPr>
            <a:r>
              <a:rPr sz="1300" b="0">
                <a:solidFill>
                  <a:srgbClr val="E9E3D3"/>
                </a:solidFill>
                <a:latin typeface="Consolas"/>
              </a:rPr>
              <a:t>- Distance in human terms: near, across the</a:t>
            </a:r>
          </a:p>
          <a:p>
            <a:pPr algn="l">
              <a:lnSpc>
                <a:spcPct val="130000"/>
              </a:lnSpc>
            </a:pPr>
            <a:r>
              <a:rPr sz="1300" b="0">
                <a:solidFill>
                  <a:srgbClr val="E9E3D3"/>
                </a:solidFill>
                <a:latin typeface="Consolas"/>
              </a:rPr>
              <a:t>  street, farther away, to the left…</a:t>
            </a:r>
          </a:p>
          <a:p>
            <a:pPr algn="l">
              <a:lnSpc>
                <a:spcPct val="130000"/>
              </a:lnSpc>
            </a:pPr>
            <a:r>
              <a:rPr sz="1300" b="0">
                <a:solidFill>
                  <a:srgbClr val="E9E3D3"/>
                </a:solidFill>
                <a:latin typeface="Consolas"/>
              </a:rPr>
              <a:t>- If unclear, stay vague rather than</a:t>
            </a:r>
          </a:p>
          <a:p>
            <a:pPr algn="l">
              <a:lnSpc>
                <a:spcPct val="130000"/>
              </a:lnSpc>
            </a:pPr>
            <a:r>
              <a:rPr sz="1300" b="0">
                <a:solidFill>
                  <a:srgbClr val="E9E3D3"/>
                </a:solidFill>
                <a:latin typeface="Consolas"/>
              </a:rPr>
              <a:t>  inventing details</a:t>
            </a:r>
          </a:p>
          <a:p>
            <a:pPr algn="l">
              <a:lnSpc>
                <a:spcPct val="130000"/>
              </a:lnSpc>
            </a:pPr>
            <a:r>
              <a:rPr sz="1300" b="0">
                <a:solidFill>
                  <a:srgbClr val="E9E3D3"/>
                </a:solidFill>
                <a:latin typeface="Consolas"/>
              </a:rPr>
              <a:t>- Context before description</a:t>
            </a:r>
          </a:p>
          <a:p>
            <a:pPr algn="l">
              <a:lnSpc>
                <a:spcPct val="130000"/>
              </a:lnSpc>
            </a:pPr>
            <a:r>
              <a:rPr sz="1300" b="0">
                <a:solidFill>
                  <a:srgbClr val="E9E3D3"/>
                </a:solidFill>
                <a:latin typeface="Consolas"/>
              </a:rPr>
              <a:t>- 1–2 short paragraphs, conversational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543800" y="2148840"/>
            <a:ext cx="3931920" cy="3840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1">
                <a:solidFill>
                  <a:srgbClr val="6ECDBD"/>
                </a:solidFill>
                <a:latin typeface="Georgia"/>
              </a:rPr>
              <a:t>the voice on top</a:t>
            </a:r>
          </a:p>
          <a:p>
            <a:pPr algn="l">
              <a:lnSpc>
                <a:spcPct val="130000"/>
              </a:lnSpc>
            </a:pPr>
            <a:r>
              <a:rPr sz="1500" b="0">
                <a:solidFill>
                  <a:srgbClr val="96917F"/>
                </a:solidFill>
                <a:latin typeface="Georgia"/>
              </a:rPr>
              <a:t>the per-world system prompt: medieval, noir, tour-guide — how a world talks about itself.</a:t>
            </a:r>
          </a:p>
          <a:p>
            <a:pPr algn="l">
              <a:lnSpc>
                <a:spcPct val="130000"/>
              </a:lnSpc>
            </a:pPr>
            <a:r>
              <a:rPr sz="1500" b="0">
                <a:solidFill>
                  <a:srgbClr val="96917F"/>
                </a:solidFill>
                <a:latin typeface="Georgia"/>
              </a:rPr>
              <a:t/>
            </a:r>
          </a:p>
          <a:p>
            <a:pPr algn="l">
              <a:lnSpc>
                <a:spcPct val="130000"/>
              </a:lnSpc>
            </a:pPr>
            <a:r>
              <a:rPr sz="1500" b="1">
                <a:solidFill>
                  <a:srgbClr val="6ECDBD"/>
                </a:solidFill>
                <a:latin typeface="Georgia"/>
              </a:rPr>
              <a:t>a detail dial</a:t>
            </a:r>
          </a:p>
          <a:p>
            <a:pPr algn="l">
              <a:lnSpc>
                <a:spcPct val="130000"/>
              </a:lnSpc>
            </a:pPr>
            <a:r>
              <a:rPr sz="1500" b="0">
                <a:solidFill>
                  <a:srgbClr val="96917F"/>
                </a:solidFill>
                <a:latin typeface="Georgia"/>
              </a:rPr>
              <a:t>detail_level turns a glance into a long look.</a:t>
            </a:r>
          </a:p>
          <a:p>
            <a:pPr algn="l">
              <a:lnSpc>
                <a:spcPct val="130000"/>
              </a:lnSpc>
            </a:pPr>
            <a:r>
              <a:rPr sz="1500" b="0">
                <a:solidFill>
                  <a:srgbClr val="96917F"/>
                </a:solidFill>
                <a:latin typeface="Georgia"/>
              </a:rPr>
              <a:t/>
            </a:r>
          </a:p>
          <a:p>
            <a:pPr algn="l">
              <a:lnSpc>
                <a:spcPct val="130000"/>
              </a:lnSpc>
            </a:pPr>
            <a:r>
              <a:rPr sz="1500" b="1">
                <a:solidFill>
                  <a:srgbClr val="6ECDBD"/>
                </a:solidFill>
                <a:latin typeface="Georgia"/>
              </a:rPr>
              <a:t>any model</a:t>
            </a:r>
          </a:p>
          <a:p>
            <a:pPr algn="l">
              <a:lnSpc>
                <a:spcPct val="130000"/>
              </a:lnSpc>
            </a:pPr>
            <a:r>
              <a:rPr sz="1500" b="0">
                <a:solidFill>
                  <a:srgbClr val="96917F"/>
                </a:solidFill>
                <a:latin typeface="Georgia"/>
              </a:rPr>
              <a:t>the rules travel; the LLM behind them is interchangeable.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6419088"/>
            <a:ext cx="10515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>
                <a:solidFill>
                  <a:srgbClr val="6C6A5F"/>
                </a:solidFill>
                <a:latin typeface="Consolas"/>
              </a:rPr>
              <a:t>geobard — turn GeoJSON into prose</a:t>
            </a:r>
            <a:r>
              <a:rPr sz="1000" b="0">
                <a:solidFill>
                  <a:srgbClr val="6C6A5F"/>
                </a:solidFill>
                <a:latin typeface="Consolas"/>
              </a:rPr>
              <a:t>   ·   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E1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02920"/>
            <a:ext cx="7315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1">
                <a:solidFill>
                  <a:srgbClr val="1FA890"/>
                </a:solidFill>
                <a:latin typeface="Consolas"/>
              </a:rPr>
              <a:t>STEP 3 · THE PROSE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51560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400" b="1">
                <a:solidFill>
                  <a:srgbClr val="E9E3D3"/>
                </a:solidFill>
                <a:latin typeface="Georgia"/>
              </a:rPr>
              <a:t>Data dissolves into narration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965960"/>
            <a:ext cx="10607040" cy="1737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75000"/>
              </a:lnSpc>
            </a:pPr>
            <a:r>
              <a:rPr sz="1500" b="0">
                <a:solidFill>
                  <a:srgbClr val="1FA890"/>
                </a:solidFill>
                <a:latin typeface="Consolas"/>
              </a:rPr>
              <a:t>"distance_m": 1400, "bearing": 47</a:t>
            </a:r>
            <a:r>
              <a:rPr sz="1500" b="0">
                <a:solidFill>
                  <a:srgbClr val="6C6A5F"/>
                </a:solidFill>
                <a:latin typeface="Consolas"/>
              </a:rPr>
              <a:t>   →   </a:t>
            </a:r>
            <a:r>
              <a:rPr sz="1500" b="0">
                <a:solidFill>
                  <a:srgbClr val="E9E3D3"/>
                </a:solidFill>
                <a:latin typeface="Georgia"/>
              </a:rPr>
              <a:t>“off to your right, close enough to reach before dark”</a:t>
            </a:r>
          </a:p>
          <a:p>
            <a:pPr algn="l">
              <a:lnSpc>
                <a:spcPct val="175000"/>
              </a:lnSpc>
            </a:pPr>
            <a:r>
              <a:rPr sz="1500" b="0">
                <a:solidFill>
                  <a:srgbClr val="1FA890"/>
                </a:solidFill>
                <a:latin typeface="Consolas"/>
              </a:rPr>
              <a:t>"lore": "jewel of the north"</a:t>
            </a:r>
            <a:r>
              <a:rPr sz="1500" b="0">
                <a:solidFill>
                  <a:srgbClr val="6C6A5F"/>
                </a:solidFill>
                <a:latin typeface="Consolas"/>
              </a:rPr>
              <a:t>        →   </a:t>
            </a:r>
            <a:r>
              <a:rPr sz="1500" b="0">
                <a:solidFill>
                  <a:srgbClr val="E9E3D3"/>
                </a:solidFill>
                <a:latin typeface="Georgia"/>
              </a:rPr>
              <a:t>“they still call it the jewel of the north”</a:t>
            </a:r>
          </a:p>
          <a:p>
            <a:pPr algn="l">
              <a:lnSpc>
                <a:spcPct val="175000"/>
              </a:lnSpc>
            </a:pPr>
            <a:r>
              <a:rPr sz="1500" b="0">
                <a:solidFill>
                  <a:srgbClr val="1FA890"/>
                </a:solidFill>
                <a:latin typeface="Consolas"/>
              </a:rPr>
              <a:t>"pov": { … }</a:t>
            </a:r>
            <a:r>
              <a:rPr sz="1500" b="0">
                <a:solidFill>
                  <a:srgbClr val="6C6A5F"/>
                </a:solidFill>
                <a:latin typeface="Consolas"/>
              </a:rPr>
              <a:t>                        →   </a:t>
            </a:r>
            <a:r>
              <a:rPr sz="1500" b="0">
                <a:solidFill>
                  <a:srgbClr val="E9E3D3"/>
                </a:solidFill>
                <a:latin typeface="Georgia"/>
              </a:rPr>
              <a:t>the camera dissolves into “you” — no coordinate survives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3977639"/>
            <a:ext cx="10607040" cy="1783080"/>
          </a:xfrm>
          <a:prstGeom prst="roundRect">
            <a:avLst/>
          </a:prstGeom>
          <a:solidFill>
            <a:srgbClr val="101521"/>
          </a:solidFill>
          <a:ln w="12700">
            <a:solidFill>
              <a:srgbClr val="242C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" y="4142231"/>
            <a:ext cx="10149840" cy="145389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>
                <a:solidFill>
                  <a:srgbClr val="E9E3D3"/>
                </a:solidFill>
                <a:latin typeface="Consolas"/>
              </a:rPr>
              <a:t>“You stand where the High Road bends — it runs on just ahead.</a:t>
            </a:r>
          </a:p>
          <a:p>
            <a:pPr algn="l">
              <a:lnSpc>
                <a:spcPct val="130000"/>
              </a:lnSpc>
            </a:pPr>
            <a:r>
              <a:rPr sz="1400" b="0">
                <a:solidFill>
                  <a:srgbClr val="E9E3D3"/>
                </a:solidFill>
                <a:latin typeface="Consolas"/>
              </a:rPr>
              <a:t> Off to your right smoke rises over rooftops: Neverwinter,</a:t>
            </a:r>
          </a:p>
          <a:p>
            <a:pPr algn="l">
              <a:lnSpc>
                <a:spcPct val="130000"/>
              </a:lnSpc>
            </a:pPr>
            <a:r>
              <a:rPr sz="1400" b="0">
                <a:solidFill>
                  <a:srgbClr val="E9E3D3"/>
                </a:solidFill>
                <a:latin typeface="Consolas"/>
              </a:rPr>
              <a:t> close enough to reach before dark. They still call it the</a:t>
            </a:r>
          </a:p>
          <a:p>
            <a:pPr algn="l">
              <a:lnSpc>
                <a:spcPct val="130000"/>
              </a:lnSpc>
            </a:pPr>
            <a:r>
              <a:rPr sz="1400" b="0">
                <a:solidFill>
                  <a:srgbClr val="E9E3D3"/>
                </a:solidFill>
                <a:latin typeface="Consolas"/>
              </a:rPr>
              <a:t> jewel of the north. Somewhere past the fields a river talks</a:t>
            </a:r>
          </a:p>
          <a:p>
            <a:pPr algn="l">
              <a:lnSpc>
                <a:spcPct val="130000"/>
              </a:lnSpc>
            </a:pPr>
            <a:r>
              <a:rPr sz="1400" b="0">
                <a:solidFill>
                  <a:srgbClr val="E9E3D3"/>
                </a:solidFill>
                <a:latin typeface="Consolas"/>
              </a:rPr>
              <a:t> to itself.”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5897880"/>
            <a:ext cx="10515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>
                <a:solidFill>
                  <a:srgbClr val="6C6A5F"/>
                </a:solidFill>
                <a:latin typeface="Georgia"/>
              </a:rPr>
              <a:t>Illustrative output. The scene stays true to the data — the words are the model's, the facts are yours.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6419088"/>
            <a:ext cx="10515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>
                <a:solidFill>
                  <a:srgbClr val="6C6A5F"/>
                </a:solidFill>
                <a:latin typeface="Consolas"/>
              </a:rPr>
              <a:t>geobard — turn GeoJSON into prose</a:t>
            </a:r>
            <a:r>
              <a:rPr sz="1000" b="0">
                <a:solidFill>
                  <a:srgbClr val="6C6A5F"/>
                </a:solidFill>
                <a:latin typeface="Consolas"/>
              </a:rPr>
              <a:t>   ·   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E1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02920"/>
            <a:ext cx="7315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1">
                <a:solidFill>
                  <a:srgbClr val="1FA890"/>
                </a:solidFill>
                <a:latin typeface="Consolas"/>
              </a:rPr>
              <a:t>THE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51560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800" b="1">
                <a:solidFill>
                  <a:srgbClr val="E9E3D3"/>
                </a:solidFill>
                <a:latin typeface="Georgia"/>
              </a:rPr>
              <a:t>Maps speak in coordinates.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965960"/>
            <a:ext cx="5120640" cy="2057400"/>
          </a:xfrm>
          <a:prstGeom prst="roundRect">
            <a:avLst/>
          </a:prstGeom>
          <a:solidFill>
            <a:srgbClr val="101521"/>
          </a:solidFill>
          <a:ln w="12700">
            <a:solidFill>
              <a:srgbClr val="242C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1560" y="2130552"/>
            <a:ext cx="4663440" cy="172821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>
                <a:solidFill>
                  <a:srgbClr val="96917F"/>
                </a:solidFill>
                <a:latin typeface="Consolas"/>
              </a:rPr>
              <a:t>{"type":"Feature","geometry":</a:t>
            </a:r>
          </a:p>
          <a:p>
            <a:pPr algn="l">
              <a:lnSpc>
                <a:spcPct val="130000"/>
              </a:lnSpc>
            </a:pPr>
            <a:r>
              <a:rPr sz="1300" b="0">
                <a:solidFill>
                  <a:srgbClr val="96917F"/>
                </a:solidFill>
                <a:latin typeface="Consolas"/>
              </a:rPr>
              <a:t> {"type":"Point",</a:t>
            </a:r>
          </a:p>
          <a:p>
            <a:pPr algn="l">
              <a:lnSpc>
                <a:spcPct val="130000"/>
              </a:lnSpc>
            </a:pPr>
            <a:r>
              <a:rPr sz="1300" b="0">
                <a:solidFill>
                  <a:srgbClr val="96917F"/>
                </a:solidFill>
                <a:latin typeface="Consolas"/>
              </a:rPr>
              <a:t>  "coordinates":[-79.714,48.834]},</a:t>
            </a:r>
          </a:p>
          <a:p>
            <a:pPr algn="l">
              <a:lnSpc>
                <a:spcPct val="130000"/>
              </a:lnSpc>
            </a:pPr>
            <a:r>
              <a:rPr sz="1300" b="0">
                <a:solidFill>
                  <a:srgbClr val="96917F"/>
                </a:solidFill>
                <a:latin typeface="Consolas"/>
              </a:rPr>
              <a:t> "properties":{"class":"city",</a:t>
            </a:r>
          </a:p>
          <a:p>
            <a:pPr algn="l">
              <a:lnSpc>
                <a:spcPct val="130000"/>
              </a:lnSpc>
            </a:pPr>
            <a:r>
              <a:rPr sz="1300" b="0">
                <a:solidFill>
                  <a:srgbClr val="96917F"/>
                </a:solidFill>
                <a:latin typeface="Consolas"/>
              </a:rPr>
              <a:t>  "name":"Neverwinter",</a:t>
            </a:r>
          </a:p>
          <a:p>
            <a:pPr algn="l">
              <a:lnSpc>
                <a:spcPct val="130000"/>
              </a:lnSpc>
            </a:pPr>
            <a:r>
              <a:rPr sz="1300" b="0">
                <a:solidFill>
                  <a:srgbClr val="96917F"/>
                </a:solidFill>
                <a:latin typeface="Consolas"/>
              </a:rPr>
              <a:t>  "distance_m":1400,"bearing":47}}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35040" y="2651760"/>
            <a:ext cx="6400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400" b="1">
                <a:solidFill>
                  <a:srgbClr val="6ECDBD"/>
                </a:solidFill>
                <a:latin typeface="Consolas"/>
              </a:rPr>
              <a:t>→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720840" y="1965960"/>
            <a:ext cx="4754880" cy="2057400"/>
          </a:xfrm>
          <a:prstGeom prst="roundRect">
            <a:avLst/>
          </a:prstGeom>
          <a:solidFill>
            <a:srgbClr val="101521"/>
          </a:solidFill>
          <a:ln w="12700">
            <a:solidFill>
              <a:srgbClr val="242C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949440" y="2130552"/>
            <a:ext cx="4297680" cy="172821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>
                <a:solidFill>
                  <a:srgbClr val="E9E3D3"/>
                </a:solidFill>
                <a:latin typeface="Consolas"/>
              </a:rPr>
              <a:t>“Smoke rises from chimneys off to</a:t>
            </a:r>
          </a:p>
          <a:p>
            <a:pPr algn="l">
              <a:lnSpc>
                <a:spcPct val="130000"/>
              </a:lnSpc>
            </a:pPr>
            <a:r>
              <a:rPr sz="1300" b="0">
                <a:solidFill>
                  <a:srgbClr val="E9E3D3"/>
                </a:solidFill>
                <a:latin typeface="Consolas"/>
              </a:rPr>
              <a:t> your right — a city, close enough</a:t>
            </a:r>
          </a:p>
          <a:p>
            <a:pPr algn="l">
              <a:lnSpc>
                <a:spcPct val="130000"/>
              </a:lnSpc>
            </a:pPr>
            <a:r>
              <a:rPr sz="1300" b="0">
                <a:solidFill>
                  <a:srgbClr val="E9E3D3"/>
                </a:solidFill>
                <a:latin typeface="Consolas"/>
              </a:rPr>
              <a:t> to reach before the light fades.</a:t>
            </a:r>
          </a:p>
          <a:p>
            <a:pPr algn="l">
              <a:lnSpc>
                <a:spcPct val="130000"/>
              </a:lnSpc>
            </a:pPr>
            <a:r>
              <a:rPr sz="1300" b="0">
                <a:solidFill>
                  <a:srgbClr val="E9E3D3"/>
                </a:solidFill>
                <a:latin typeface="Consolas"/>
              </a:rPr>
              <a:t> The road bends toward its gates.”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4434840"/>
            <a:ext cx="10515600" cy="4206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700" b="1">
                <a:solidFill>
                  <a:srgbClr val="6ECDBD"/>
                </a:solidFill>
                <a:latin typeface="Consolas"/>
              </a:rPr>
              <a:t>▸ </a:t>
            </a:r>
            <a:r>
              <a:rPr sz="1700" b="1">
                <a:solidFill>
                  <a:srgbClr val="E9E3D3"/>
                </a:solidFill>
                <a:latin typeface="Georgia"/>
              </a:rPr>
              <a:t>Agents and players don't consume bearings</a:t>
            </a:r>
            <a:r>
              <a:rPr sz="1700" b="0">
                <a:solidFill>
                  <a:srgbClr val="96917F"/>
                </a:solidFill>
                <a:latin typeface="Georgia"/>
              </a:rPr>
              <a:t>  —  they perceive scenes.</a:t>
            </a:r>
          </a:p>
          <a:p>
            <a:pPr algn="l">
              <a:lnSpc>
                <a:spcPct val="150000"/>
              </a:lnSpc>
            </a:pPr>
            <a:r>
              <a:rPr sz="1700" b="1">
                <a:solidFill>
                  <a:srgbClr val="6ECDBD"/>
                </a:solidFill>
                <a:latin typeface="Consolas"/>
              </a:rPr>
              <a:t>▸ </a:t>
            </a:r>
            <a:r>
              <a:rPr sz="1700" b="1">
                <a:solidFill>
                  <a:srgbClr val="E9E3D3"/>
                </a:solidFill>
                <a:latin typeface="Georgia"/>
              </a:rPr>
              <a:t>Every project rebuilds this translation</a:t>
            </a:r>
            <a:r>
              <a:rPr sz="1700" b="0">
                <a:solidFill>
                  <a:srgbClr val="96917F"/>
                </a:solidFill>
                <a:latin typeface="Georgia"/>
              </a:rPr>
              <a:t>  —  prompt spaghetti inside app code.</a:t>
            </a:r>
          </a:p>
          <a:p>
            <a:pPr algn="l">
              <a:lnSpc>
                <a:spcPct val="150000"/>
              </a:lnSpc>
            </a:pPr>
            <a:r>
              <a:rPr sz="1700" b="1">
                <a:solidFill>
                  <a:srgbClr val="6ECDBD"/>
                </a:solidFill>
                <a:latin typeface="Consolas"/>
              </a:rPr>
              <a:t>▸ </a:t>
            </a:r>
            <a:r>
              <a:rPr sz="1700" b="1">
                <a:solidFill>
                  <a:srgbClr val="E9E3D3"/>
                </a:solidFill>
                <a:latin typeface="Georgia"/>
              </a:rPr>
              <a:t>geobard extracts it</a:t>
            </a:r>
            <a:r>
              <a:rPr sz="1700" b="0">
                <a:solidFill>
                  <a:srgbClr val="96917F"/>
                </a:solidFill>
                <a:latin typeface="Georgia"/>
              </a:rPr>
              <a:t>  —  one small service, one job, any LLM backend.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6419088"/>
            <a:ext cx="10515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>
                <a:solidFill>
                  <a:srgbClr val="6C6A5F"/>
                </a:solidFill>
                <a:latin typeface="Consolas"/>
              </a:rPr>
              <a:t>geobard — turn GeoJSON into prose</a:t>
            </a:r>
            <a:r>
              <a:rPr sz="1000" b="0">
                <a:solidFill>
                  <a:srgbClr val="6C6A5F"/>
                </a:solidFill>
                <a:latin typeface="Consolas"/>
              </a:rPr>
              <a:t>   ·   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E1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02920"/>
            <a:ext cx="7315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1">
                <a:solidFill>
                  <a:srgbClr val="1FA890"/>
                </a:solidFill>
                <a:latin typeface="Consolas"/>
              </a:rPr>
              <a:t>WHAT IT DOES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51560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4000" b="1">
                <a:solidFill>
                  <a:srgbClr val="E9E3D3"/>
                </a:solidFill>
                <a:latin typeface="Georgia"/>
              </a:rPr>
              <a:t>Three ways to render a place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2057400"/>
            <a:ext cx="3383280" cy="3566160"/>
          </a:xfrm>
          <a:prstGeom prst="roundRect">
            <a:avLst/>
          </a:prstGeom>
          <a:solidFill>
            <a:srgbClr val="101521"/>
          </a:solidFill>
          <a:ln w="12700">
            <a:solidFill>
              <a:srgbClr val="242C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2331720"/>
            <a:ext cx="28346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1">
                <a:solidFill>
                  <a:srgbClr val="1FA890"/>
                </a:solidFill>
                <a:latin typeface="Consolas"/>
              </a:rPr>
              <a:t>/narrate/window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880360"/>
            <a:ext cx="28346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100" b="1">
                <a:solidFill>
                  <a:srgbClr val="E9E3D3"/>
                </a:solidFill>
                <a:latin typeface="Georgia"/>
              </a:rPr>
              <a:t>The window view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3474720"/>
            <a:ext cx="2834640" cy="2011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500" b="0">
                <a:solidFill>
                  <a:srgbClr val="96917F"/>
                </a:solidFill>
                <a:latin typeface="Georgia"/>
              </a:rPr>
              <a:t>Describe the scene as if standing in it. Human distances, sensory cues, no map-speak. Detail level is a dial.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80560" y="2057400"/>
            <a:ext cx="3383280" cy="3566160"/>
          </a:xfrm>
          <a:prstGeom prst="roundRect">
            <a:avLst/>
          </a:prstGeom>
          <a:solidFill>
            <a:srgbClr val="101521"/>
          </a:solidFill>
          <a:ln w="12700">
            <a:solidFill>
              <a:srgbClr val="242C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754880" y="2331720"/>
            <a:ext cx="28346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1">
                <a:solidFill>
                  <a:srgbClr val="1FA890"/>
                </a:solidFill>
                <a:latin typeface="Consolas"/>
              </a:rPr>
              <a:t>/narrate/prompt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54880" y="2880360"/>
            <a:ext cx="28346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100" b="1">
                <a:solidFill>
                  <a:srgbClr val="E9E3D3"/>
                </a:solidFill>
                <a:latin typeface="Georgia"/>
              </a:rPr>
              <a:t>The answer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54880" y="3474720"/>
            <a:ext cx="2834640" cy="2011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500" b="0">
                <a:solidFill>
                  <a:srgbClr val="96917F"/>
                </a:solidFill>
                <a:latin typeface="Georgia"/>
              </a:rPr>
              <a:t>Same scene, plus a question: “could I ford this river?” — narration becomes situated Q&amp;A.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38160" y="2057400"/>
            <a:ext cx="3383280" cy="3566160"/>
          </a:xfrm>
          <a:prstGeom prst="roundRect">
            <a:avLst/>
          </a:prstGeom>
          <a:solidFill>
            <a:srgbClr val="101521"/>
          </a:solidFill>
          <a:ln w="12700">
            <a:solidFill>
              <a:srgbClr val="242C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412480" y="2331720"/>
            <a:ext cx="28346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1">
                <a:solidFill>
                  <a:srgbClr val="1FA890"/>
                </a:solidFill>
                <a:latin typeface="Consolas"/>
              </a:rPr>
              <a:t>/image/prompt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12480" y="2880360"/>
            <a:ext cx="28346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100" b="1">
                <a:solidFill>
                  <a:srgbClr val="E9E3D3"/>
                </a:solidFill>
                <a:latin typeface="Georgia"/>
              </a:rPr>
              <a:t>The picture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12480" y="3474720"/>
            <a:ext cx="2834640" cy="2011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500" b="0">
                <a:solidFill>
                  <a:srgbClr val="96917F"/>
                </a:solidFill>
                <a:latin typeface="Georgia"/>
              </a:rPr>
              <a:t>Emit a prompt engineered for an image model: architecture and city structure first, from the point of view in the data.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5852160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0">
                <a:solidFill>
                  <a:srgbClr val="6C6A5F"/>
                </a:solidFill>
                <a:latin typeface="Georgia"/>
              </a:rPr>
              <a:t>Stateless. GeoJSON in, text out. Non-standard fields in the data become narrative context.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" y="6419088"/>
            <a:ext cx="10515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>
                <a:solidFill>
                  <a:srgbClr val="6C6A5F"/>
                </a:solidFill>
                <a:latin typeface="Consolas"/>
              </a:rPr>
              <a:t>geobard — turn GeoJSON into prose</a:t>
            </a:r>
            <a:r>
              <a:rPr sz="1000" b="0">
                <a:solidFill>
                  <a:srgbClr val="6C6A5F"/>
                </a:solidFill>
                <a:latin typeface="Consolas"/>
              </a:rPr>
              <a:t>   ·   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E1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02920"/>
            <a:ext cx="7315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1">
                <a:solidFill>
                  <a:srgbClr val="1FA890"/>
                </a:solidFill>
                <a:latin typeface="Consolas"/>
              </a:rPr>
              <a:t>THE CULTURE VOICE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51560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4000" b="1">
                <a:solidFill>
                  <a:srgbClr val="E9E3D3"/>
                </a:solidFill>
                <a:latin typeface="Georgia"/>
              </a:rPr>
              <a:t>Same scene. Different worlds.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874519"/>
            <a:ext cx="10515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0">
                <a:solidFill>
                  <a:srgbClr val="96917F"/>
                </a:solidFill>
                <a:latin typeface="Georgia"/>
              </a:rPr>
              <a:t>The </a:t>
            </a:r>
            <a:r>
              <a:rPr sz="1800" b="1">
                <a:solidFill>
                  <a:srgbClr val="E9E3D3"/>
                </a:solidFill>
                <a:latin typeface="Georgia"/>
              </a:rPr>
              <a:t>system prompt</a:t>
            </a:r>
            <a:r>
              <a:rPr sz="1800" b="0">
                <a:solidFill>
                  <a:srgbClr val="96917F"/>
                </a:solidFill>
                <a:latin typeface="Georgia"/>
              </a:rPr>
              <a:t> is a per-world voice: it decides not what is there, but how a world talks about itself.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2651760"/>
            <a:ext cx="5486400" cy="1691640"/>
          </a:xfrm>
          <a:prstGeom prst="roundRect">
            <a:avLst/>
          </a:prstGeom>
          <a:solidFill>
            <a:srgbClr val="101521"/>
          </a:solidFill>
          <a:ln w="12700">
            <a:solidFill>
              <a:srgbClr val="242C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" y="2816352"/>
            <a:ext cx="5029200" cy="1362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1">
                <a:solidFill>
                  <a:srgbClr val="E09B63"/>
                </a:solidFill>
                <a:latin typeface="Consolas"/>
              </a:rPr>
              <a:t>toril · medieval fantasy</a:t>
            </a:r>
          </a:p>
          <a:p>
            <a:pPr algn="l">
              <a:lnSpc>
                <a:spcPct val="130000"/>
              </a:lnSpc>
            </a:pPr>
            <a:r>
              <a:rPr sz="1300" b="0">
                <a:solidFill>
                  <a:srgbClr val="E9E3D3"/>
                </a:solidFill>
                <a:latin typeface="Consolas"/>
              </a:rPr>
              <a:t>“The river runs quick and cold here. Across it,</a:t>
            </a:r>
          </a:p>
          <a:p>
            <a:pPr algn="l">
              <a:lnSpc>
                <a:spcPct val="130000"/>
              </a:lnSpc>
            </a:pPr>
            <a:r>
              <a:rPr sz="1300" b="0">
                <a:solidFill>
                  <a:srgbClr val="E9E3D3"/>
                </a:solidFill>
                <a:latin typeface="Consolas"/>
              </a:rPr>
              <a:t> torchlight — an inn, by the sound of it. Magic</a:t>
            </a:r>
          </a:p>
          <a:p>
            <a:pPr algn="l">
              <a:lnSpc>
                <a:spcPct val="130000"/>
              </a:lnSpc>
            </a:pPr>
            <a:r>
              <a:rPr sz="1300" b="0">
                <a:solidFill>
                  <a:srgbClr val="E9E3D3"/>
                </a:solidFill>
                <a:latin typeface="Consolas"/>
              </a:rPr>
              <a:t> hangs in the evening air, faint as woodsmoke.”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37960" y="2651760"/>
            <a:ext cx="4892040" cy="1691640"/>
          </a:xfrm>
          <a:prstGeom prst="roundRect">
            <a:avLst/>
          </a:prstGeom>
          <a:solidFill>
            <a:srgbClr val="101521"/>
          </a:solidFill>
          <a:ln w="12700">
            <a:solidFill>
              <a:srgbClr val="242C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766560" y="2816352"/>
            <a:ext cx="4434840" cy="1362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1">
                <a:solidFill>
                  <a:srgbClr val="E09B63"/>
                </a:solidFill>
                <a:latin typeface="Consolas"/>
              </a:rPr>
              <a:t>naples · travel companion</a:t>
            </a:r>
          </a:p>
          <a:p>
            <a:pPr algn="l">
              <a:lnSpc>
                <a:spcPct val="130000"/>
              </a:lnSpc>
            </a:pPr>
            <a:r>
              <a:rPr sz="1300" b="0">
                <a:solidFill>
                  <a:srgbClr val="E9E3D3"/>
                </a:solidFill>
                <a:latin typeface="Consolas"/>
              </a:rPr>
              <a:t>“You're a short walk from the water.</a:t>
            </a:r>
          </a:p>
          <a:p>
            <a:pPr algn="l">
              <a:lnSpc>
                <a:spcPct val="130000"/>
              </a:lnSpc>
            </a:pPr>
            <a:r>
              <a:rPr sz="1300" b="0">
                <a:solidFill>
                  <a:srgbClr val="E9E3D3"/>
                </a:solidFill>
                <a:latin typeface="Consolas"/>
              </a:rPr>
              <a:t> The street to your left opens into</a:t>
            </a:r>
          </a:p>
          <a:p>
            <a:pPr algn="l">
              <a:lnSpc>
                <a:spcPct val="130000"/>
              </a:lnSpc>
            </a:pPr>
            <a:r>
              <a:rPr sz="1300" b="0">
                <a:solidFill>
                  <a:srgbClr val="E9E3D3"/>
                </a:solidFill>
                <a:latin typeface="Consolas"/>
              </a:rPr>
              <a:t> a piazza — the espresso is worth it.”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4663440"/>
            <a:ext cx="1060704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600" b="0">
                <a:solidFill>
                  <a:srgbClr val="96917F"/>
                </a:solidFill>
                <a:latin typeface="Georgia"/>
              </a:rPr>
              <a:t>Toril's real voice ships with the world: </a:t>
            </a:r>
            <a:r>
              <a:rPr sz="1600" b="0">
                <a:solidFill>
                  <a:srgbClr val="6ECDBD"/>
                </a:solidFill>
                <a:latin typeface="Georgia"/>
              </a:rPr>
              <a:t>“You describe places the way someone would when looking around. You never mention maps, coordinates, GeoJSON…”</a:t>
            </a:r>
            <a:r>
              <a:rPr sz="1600" b="0">
                <a:solidFill>
                  <a:srgbClr val="6C6A5F"/>
                </a:solidFill>
                <a:latin typeface="Georgia"/>
              </a:rPr>
              <a:t>  (examples above are illustrative)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6419088"/>
            <a:ext cx="10515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>
                <a:solidFill>
                  <a:srgbClr val="6C6A5F"/>
                </a:solidFill>
                <a:latin typeface="Consolas"/>
              </a:rPr>
              <a:t>geobard — turn GeoJSON into prose</a:t>
            </a:r>
            <a:r>
              <a:rPr sz="1000" b="0">
                <a:solidFill>
                  <a:srgbClr val="6C6A5F"/>
                </a:solidFill>
                <a:latin typeface="Consolas"/>
              </a:rPr>
              <a:t>   ·   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E1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02920"/>
            <a:ext cx="7315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1">
                <a:solidFill>
                  <a:srgbClr val="1FA890"/>
                </a:solidFill>
                <a:latin typeface="Consolas"/>
              </a:rPr>
              <a:t>UNDER THE HOOD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51560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4000" b="1">
                <a:solidFill>
                  <a:srgbClr val="E9E3D3"/>
                </a:solidFill>
                <a:latin typeface="Georgia"/>
              </a:rPr>
              <a:t>Small on purpose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965960"/>
            <a:ext cx="10515600" cy="4206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700" b="1">
                <a:solidFill>
                  <a:srgbClr val="6ECDBD"/>
                </a:solidFill>
                <a:latin typeface="Consolas"/>
              </a:rPr>
              <a:t>▸ </a:t>
            </a:r>
            <a:r>
              <a:rPr sz="1700" b="1">
                <a:solidFill>
                  <a:srgbClr val="E9E3D3"/>
                </a:solidFill>
                <a:latin typeface="Georgia"/>
              </a:rPr>
              <a:t>FastAPI, a handful of endpoints, no state</a:t>
            </a:r>
            <a:r>
              <a:rPr sz="1700" b="0">
                <a:solidFill>
                  <a:srgbClr val="96917F"/>
                </a:solidFill>
                <a:latin typeface="Georgia"/>
              </a:rPr>
              <a:t>  —  nothing to babysit.</a:t>
            </a:r>
          </a:p>
          <a:p>
            <a:pPr algn="l">
              <a:lnSpc>
                <a:spcPct val="150000"/>
              </a:lnSpc>
            </a:pPr>
            <a:r>
              <a:rPr sz="1700" b="1">
                <a:solidFill>
                  <a:srgbClr val="6ECDBD"/>
                </a:solidFill>
                <a:latin typeface="Consolas"/>
              </a:rPr>
              <a:t>▸ </a:t>
            </a:r>
            <a:r>
              <a:rPr sz="1700" b="1">
                <a:solidFill>
                  <a:srgbClr val="E9E3D3"/>
                </a:solidFill>
                <a:latin typeface="Georgia"/>
              </a:rPr>
              <a:t>Speaks the OpenAI chat-completions API</a:t>
            </a:r>
            <a:r>
              <a:rPr sz="1700" b="0">
                <a:solidFill>
                  <a:srgbClr val="96917F"/>
                </a:solidFill>
                <a:latin typeface="Georgia"/>
              </a:rPr>
              <a:t>  —  OpenRouter, Ollama, Groq, OpenAI…</a:t>
            </a:r>
          </a:p>
          <a:p>
            <a:pPr algn="l">
              <a:lnSpc>
                <a:spcPct val="150000"/>
              </a:lnSpc>
            </a:pPr>
            <a:r>
              <a:rPr sz="1700" b="1">
                <a:solidFill>
                  <a:srgbClr val="6ECDBD"/>
                </a:solidFill>
                <a:latin typeface="Consolas"/>
              </a:rPr>
              <a:t>▸ </a:t>
            </a:r>
            <a:r>
              <a:rPr sz="1700" b="1">
                <a:solidFill>
                  <a:srgbClr val="E9E3D3"/>
                </a:solidFill>
                <a:latin typeface="Georgia"/>
              </a:rPr>
              <a:t>Configuration is three env vars</a:t>
            </a:r>
            <a:r>
              <a:rPr sz="1700" b="0">
                <a:solidFill>
                  <a:srgbClr val="96917F"/>
                </a:solidFill>
                <a:latin typeface="Georgia"/>
              </a:rPr>
              <a:t>  —  base url · api key · model.</a:t>
            </a:r>
          </a:p>
          <a:p>
            <a:pPr algn="l">
              <a:lnSpc>
                <a:spcPct val="150000"/>
              </a:lnSpc>
            </a:pPr>
            <a:r>
              <a:rPr sz="1700" b="1">
                <a:solidFill>
                  <a:srgbClr val="6ECDBD"/>
                </a:solidFill>
                <a:latin typeface="Consolas"/>
              </a:rPr>
              <a:t>▸ </a:t>
            </a:r>
            <a:r>
              <a:rPr sz="1700" b="1">
                <a:solidFill>
                  <a:srgbClr val="E9E3D3"/>
                </a:solidFill>
                <a:latin typeface="Georgia"/>
              </a:rPr>
              <a:t>Tested, CI'd, containerised</a:t>
            </a:r>
            <a:r>
              <a:rPr sz="1700" b="0">
                <a:solidFill>
                  <a:srgbClr val="96917F"/>
                </a:solidFill>
                <a:latin typeface="Georgia"/>
              </a:rPr>
              <a:t>  —  dual-licensed MIT / Apache-2.0.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4572000"/>
            <a:ext cx="10515600" cy="1508760"/>
          </a:xfrm>
          <a:prstGeom prst="roundRect">
            <a:avLst/>
          </a:prstGeom>
          <a:solidFill>
            <a:srgbClr val="101521"/>
          </a:solidFill>
          <a:ln w="12700">
            <a:solidFill>
              <a:srgbClr val="242C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" y="4736592"/>
            <a:ext cx="10058400" cy="117957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>
                <a:solidFill>
                  <a:srgbClr val="E9E3D3"/>
                </a:solidFill>
                <a:latin typeface="Consolas"/>
              </a:rPr>
              <a:t>docker run -p 8010:8000 \</a:t>
            </a:r>
          </a:p>
          <a:p>
            <a:pPr algn="l">
              <a:lnSpc>
                <a:spcPct val="130000"/>
              </a:lnSpc>
            </a:pPr>
            <a:r>
              <a:rPr sz="1300" b="0">
                <a:solidFill>
                  <a:srgbClr val="E9E3D3"/>
                </a:solidFill>
                <a:latin typeface="Consolas"/>
              </a:rPr>
              <a:t>  -e GEOBARD_OPENAI_API_KEY=sk-… \</a:t>
            </a:r>
          </a:p>
          <a:p>
            <a:pPr algn="l">
              <a:lnSpc>
                <a:spcPct val="130000"/>
              </a:lnSpc>
            </a:pPr>
            <a:r>
              <a:rPr sz="1300" b="0">
                <a:solidFill>
                  <a:srgbClr val="E9E3D3"/>
                </a:solidFill>
                <a:latin typeface="Consolas"/>
              </a:rPr>
              <a:t>  -e GEOBARD_OPENAI_MODEL=meta-llama/llama-3.3-70b-instruct \</a:t>
            </a:r>
          </a:p>
          <a:p>
            <a:pPr algn="l">
              <a:lnSpc>
                <a:spcPct val="130000"/>
              </a:lnSpc>
            </a:pPr>
            <a:r>
              <a:rPr sz="1300" b="1">
                <a:solidFill>
                  <a:srgbClr val="6ECDBD"/>
                </a:solidFill>
                <a:latin typeface="Consolas"/>
              </a:rPr>
              <a:t>  ghcr.io/openfantasymap/geobard:0.1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6419088"/>
            <a:ext cx="10515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>
                <a:solidFill>
                  <a:srgbClr val="6C6A5F"/>
                </a:solidFill>
                <a:latin typeface="Consolas"/>
              </a:rPr>
              <a:t>geobard — turn GeoJSON into prose</a:t>
            </a:r>
            <a:r>
              <a:rPr sz="1000" b="0">
                <a:solidFill>
                  <a:srgbClr val="6C6A5F"/>
                </a:solidFill>
                <a:latin typeface="Consolas"/>
              </a:rPr>
              <a:t>   ·   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E1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02920"/>
            <a:ext cx="7315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1">
                <a:solidFill>
                  <a:srgbClr val="1FA890"/>
                </a:solidFill>
                <a:latin typeface="Consolas"/>
              </a:rPr>
              <a:t>THE API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51560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4000" b="1">
                <a:solidFill>
                  <a:srgbClr val="E9E3D3"/>
                </a:solidFill>
                <a:latin typeface="Georgia"/>
              </a:rPr>
              <a:t>One call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2103120"/>
            <a:ext cx="10515600" cy="2286000"/>
          </a:xfrm>
          <a:prstGeom prst="roundRect">
            <a:avLst/>
          </a:prstGeom>
          <a:solidFill>
            <a:srgbClr val="101521"/>
          </a:solidFill>
          <a:ln w="12700">
            <a:solidFill>
              <a:srgbClr val="242C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1560" y="2267712"/>
            <a:ext cx="10058400" cy="195681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1">
                <a:solidFill>
                  <a:srgbClr val="1FA890"/>
                </a:solidFill>
                <a:latin typeface="Consolas"/>
              </a:rPr>
              <a:t>POST /narrate/window</a:t>
            </a:r>
          </a:p>
          <a:p>
            <a:pPr algn="l">
              <a:lnSpc>
                <a:spcPct val="130000"/>
              </a:lnSpc>
            </a:pPr>
            <a:r>
              <a:rPr sz="1500" b="0">
                <a:solidFill>
                  <a:srgbClr val="E9E3D3"/>
                </a:solidFill>
                <a:latin typeface="Consolas"/>
              </a:rPr>
              <a:t>{ "geojson":      { …the scene… },</a:t>
            </a:r>
          </a:p>
          <a:p>
            <a:pPr algn="l">
              <a:lnSpc>
                <a:spcPct val="130000"/>
              </a:lnSpc>
            </a:pPr>
            <a:r>
              <a:rPr sz="1500" b="0">
                <a:solidFill>
                  <a:srgbClr val="E9E3D3"/>
                </a:solidFill>
                <a:latin typeface="Consolas"/>
              </a:rPr>
              <a:t>  "system":       ["You are the voice of a medieval world…"],</a:t>
            </a:r>
          </a:p>
          <a:p>
            <a:pPr algn="l">
              <a:lnSpc>
                <a:spcPct val="130000"/>
              </a:lnSpc>
            </a:pPr>
            <a:r>
              <a:rPr sz="1500" b="0">
                <a:solidFill>
                  <a:srgbClr val="E9E3D3"/>
                </a:solidFill>
                <a:latin typeface="Consolas"/>
              </a:rPr>
              <a:t>  "detail_level": "medium" }</a:t>
            </a:r>
          </a:p>
          <a:p>
            <a:pPr algn="l">
              <a:lnSpc>
                <a:spcPct val="130000"/>
              </a:lnSpc>
            </a:pPr>
            <a:r>
              <a:rPr sz="1500" b="0">
                <a:solidFill>
                  <a:srgbClr val="E9E3D3"/>
                </a:solidFill>
                <a:latin typeface="Consolas"/>
              </a:rPr>
              <a:t/>
            </a:r>
          </a:p>
          <a:p>
            <a:pPr algn="l">
              <a:lnSpc>
                <a:spcPct val="130000"/>
              </a:lnSpc>
            </a:pPr>
            <a:r>
              <a:rPr sz="1500" b="0">
                <a:solidFill>
                  <a:srgbClr val="6ECDBD"/>
                </a:solidFill>
                <a:latin typeface="Consolas"/>
              </a:rPr>
              <a:t>→ { "text": "Smoke rises from chimneys off to your right…" }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4663440"/>
            <a:ext cx="10515600" cy="4206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600" b="1">
                <a:solidFill>
                  <a:srgbClr val="6ECDBD"/>
                </a:solidFill>
                <a:latin typeface="Consolas"/>
              </a:rPr>
              <a:t>▸ </a:t>
            </a:r>
            <a:r>
              <a:rPr sz="1600" b="1">
                <a:solidFill>
                  <a:srgbClr val="E9E3D3"/>
                </a:solidFill>
                <a:latin typeface="Georgia"/>
              </a:rPr>
              <a:t>/narrate/prompt adds a question</a:t>
            </a:r>
            <a:r>
              <a:rPr sz="1600" b="0">
                <a:solidFill>
                  <a:srgbClr val="96917F"/>
                </a:solidFill>
                <a:latin typeface="Georgia"/>
              </a:rPr>
              <a:t>  —  “What's the safest way across?”</a:t>
            </a:r>
          </a:p>
          <a:p>
            <a:pPr algn="l">
              <a:lnSpc>
                <a:spcPct val="150000"/>
              </a:lnSpc>
            </a:pPr>
            <a:r>
              <a:rPr sz="1600" b="1">
                <a:solidFill>
                  <a:srgbClr val="6ECDBD"/>
                </a:solidFill>
                <a:latin typeface="Consolas"/>
              </a:rPr>
              <a:t>▸ </a:t>
            </a:r>
            <a:r>
              <a:rPr sz="1600" b="1">
                <a:solidFill>
                  <a:srgbClr val="E9E3D3"/>
                </a:solidFill>
                <a:latin typeface="Georgia"/>
              </a:rPr>
              <a:t>/image/prompt swaps the rules</a:t>
            </a:r>
            <a:r>
              <a:rPr sz="1600" b="0">
                <a:solidFill>
                  <a:srgbClr val="96917F"/>
                </a:solidFill>
                <a:latin typeface="Georgia"/>
              </a:rPr>
              <a:t>  —  architecture first, POV-anchored.</a:t>
            </a:r>
          </a:p>
          <a:p>
            <a:pPr algn="l">
              <a:lnSpc>
                <a:spcPct val="150000"/>
              </a:lnSpc>
            </a:pPr>
            <a:r>
              <a:rPr sz="1600" b="1">
                <a:solidFill>
                  <a:srgbClr val="6ECDBD"/>
                </a:solidFill>
                <a:latin typeface="Consolas"/>
              </a:rPr>
              <a:t>▸ </a:t>
            </a:r>
            <a:r>
              <a:rPr sz="1600" b="1">
                <a:solidFill>
                  <a:srgbClr val="E9E3D3"/>
                </a:solidFill>
                <a:latin typeface="Georgia"/>
              </a:rPr>
              <a:t>Prompt rules are the product</a:t>
            </a:r>
            <a:r>
              <a:rPr sz="1600" b="0">
                <a:solidFill>
                  <a:srgbClr val="96917F"/>
                </a:solidFill>
                <a:latin typeface="Georgia"/>
              </a:rPr>
              <a:t>  —  human distances · sensory cues · vague beats invented.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6419088"/>
            <a:ext cx="10515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>
                <a:solidFill>
                  <a:srgbClr val="6C6A5F"/>
                </a:solidFill>
                <a:latin typeface="Consolas"/>
              </a:rPr>
              <a:t>geobard — turn GeoJSON into prose</a:t>
            </a:r>
            <a:r>
              <a:rPr sz="1000" b="0">
                <a:solidFill>
                  <a:srgbClr val="6C6A5F"/>
                </a:solidFill>
                <a:latin typeface="Consolas"/>
              </a:rPr>
              <a:t>   ·   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E1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02920"/>
            <a:ext cx="7315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1">
                <a:solidFill>
                  <a:srgbClr val="1FA890"/>
                </a:solidFill>
                <a:latin typeface="Consolas"/>
              </a:rPr>
              <a:t>INSIDE GAIAWM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51560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4000" b="1">
                <a:solidFill>
                  <a:srgbClr val="E9E3D3"/>
                </a:solidFill>
                <a:latin typeface="Georgia"/>
              </a:rPr>
              <a:t>The sensory cortex of the ghosts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2286000"/>
            <a:ext cx="2377440" cy="1737360"/>
          </a:xfrm>
          <a:prstGeom prst="roundRect">
            <a:avLst/>
          </a:prstGeom>
          <a:solidFill>
            <a:srgbClr val="101521"/>
          </a:solidFill>
          <a:ln w="12700">
            <a:solidFill>
              <a:srgbClr val="242C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2487168"/>
            <a:ext cx="20116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1">
                <a:solidFill>
                  <a:srgbClr val="E9E3D3"/>
                </a:solidFill>
                <a:latin typeface="Consolas"/>
              </a:rPr>
              <a:t>PostGIS / SpatiaLite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3017520"/>
            <a:ext cx="201168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>
                <a:solidFill>
                  <a:srgbClr val="96917F"/>
                </a:solidFill>
                <a:latin typeface="Georgia"/>
              </a:rPr>
              <a:t>sector query around the agent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0" y="2834640"/>
            <a:ext cx="4572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200" b="1">
                <a:solidFill>
                  <a:srgbClr val="6ECDBD"/>
                </a:solidFill>
                <a:latin typeface="Consolas"/>
              </a:rPr>
              <a:t>→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657600" y="2286000"/>
            <a:ext cx="2377440" cy="1737360"/>
          </a:xfrm>
          <a:prstGeom prst="roundRect">
            <a:avLst/>
          </a:prstGeom>
          <a:solidFill>
            <a:srgbClr val="101521"/>
          </a:solidFill>
          <a:ln w="12700">
            <a:solidFill>
              <a:srgbClr val="242C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840480" y="2487168"/>
            <a:ext cx="20116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1">
                <a:solidFill>
                  <a:srgbClr val="E9E3D3"/>
                </a:solidFill>
                <a:latin typeface="Consolas"/>
              </a:rPr>
              <a:t>GeoJSON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840480" y="3017520"/>
            <a:ext cx="201168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>
                <a:solidFill>
                  <a:srgbClr val="96917F"/>
                </a:solidFill>
                <a:latin typeface="Georgia"/>
              </a:rPr>
              <a:t>features + world context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35040" y="2834640"/>
            <a:ext cx="4572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200" b="1">
                <a:solidFill>
                  <a:srgbClr val="6ECDBD"/>
                </a:solidFill>
                <a:latin typeface="Consolas"/>
              </a:rPr>
              <a:t>→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92240" y="2286000"/>
            <a:ext cx="2377440" cy="1737360"/>
          </a:xfrm>
          <a:prstGeom prst="roundRect">
            <a:avLst/>
          </a:prstGeom>
          <a:solidFill>
            <a:srgbClr val="101521"/>
          </a:solidFill>
          <a:ln w="12700">
            <a:solidFill>
              <a:srgbClr val="1FA89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675120" y="2487168"/>
            <a:ext cx="20116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1">
                <a:solidFill>
                  <a:srgbClr val="6ECDBD"/>
                </a:solidFill>
                <a:latin typeface="Consolas"/>
              </a:rPr>
              <a:t>geobard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75120" y="3017520"/>
            <a:ext cx="201168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>
                <a:solidFill>
                  <a:srgbClr val="96917F"/>
                </a:solidFill>
                <a:latin typeface="Georgia"/>
              </a:rPr>
              <a:t>narration, in the world's voice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869680" y="2834640"/>
            <a:ext cx="4572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200" b="1">
                <a:solidFill>
                  <a:srgbClr val="6ECDBD"/>
                </a:solidFill>
                <a:latin typeface="Consolas"/>
              </a:rPr>
              <a:t>→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326880" y="2286000"/>
            <a:ext cx="2377440" cy="1737360"/>
          </a:xfrm>
          <a:prstGeom prst="roundRect">
            <a:avLst/>
          </a:prstGeom>
          <a:solidFill>
            <a:srgbClr val="101521"/>
          </a:solidFill>
          <a:ln w="12700">
            <a:solidFill>
              <a:srgbClr val="242C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509760" y="2487168"/>
            <a:ext cx="20116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1">
                <a:solidFill>
                  <a:srgbClr val="E9E3D3"/>
                </a:solidFill>
                <a:latin typeface="Consolas"/>
              </a:rPr>
              <a:t>the ghost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509760" y="3017520"/>
            <a:ext cx="201168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>
                <a:solidFill>
                  <a:srgbClr val="96917F"/>
                </a:solidFill>
                <a:latin typeface="Georgia"/>
              </a:rPr>
              <a:t>perceives — never sees a coordinate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" y="4572000"/>
            <a:ext cx="10515600" cy="4206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700" b="1">
                <a:solidFill>
                  <a:srgbClr val="6ECDBD"/>
                </a:solidFill>
                <a:latin typeface="Consolas"/>
              </a:rPr>
              <a:t>▸ </a:t>
            </a:r>
            <a:r>
              <a:rPr sz="1700" b="1">
                <a:solidFill>
                  <a:srgbClr val="E9E3D3"/>
                </a:solidFill>
                <a:latin typeface="Georgia"/>
              </a:rPr>
              <a:t>Position-blindness is enforced by prose</a:t>
            </a:r>
            <a:r>
              <a:rPr sz="1700" b="0">
                <a:solidFill>
                  <a:srgbClr val="96917F"/>
                </a:solidFill>
                <a:latin typeface="Georgia"/>
              </a:rPr>
              <a:t>  —  agents act on what they perceive, not on lat/lng.</a:t>
            </a:r>
          </a:p>
          <a:p>
            <a:pPr algn="l">
              <a:lnSpc>
                <a:spcPct val="150000"/>
              </a:lnSpc>
            </a:pPr>
            <a:r>
              <a:rPr sz="1700" b="1">
                <a:solidFill>
                  <a:srgbClr val="6ECDBD"/>
                </a:solidFill>
                <a:latin typeface="Consolas"/>
              </a:rPr>
              <a:t>▸ </a:t>
            </a:r>
            <a:r>
              <a:rPr sz="1700" b="1">
                <a:solidFill>
                  <a:srgbClr val="E9E3D3"/>
                </a:solidFill>
                <a:latin typeface="Georgia"/>
              </a:rPr>
              <a:t>gaia runs the same prompts in-process</a:t>
            </a:r>
            <a:r>
              <a:rPr sz="1700" b="0">
                <a:solidFill>
                  <a:srgbClr val="96917F"/>
                </a:solidFill>
                <a:latin typeface="Georgia"/>
              </a:rPr>
              <a:t>  —  set GAIA_GEOBARD_URL and narration becomes a service you can scale and swap independently.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" y="6419088"/>
            <a:ext cx="10515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>
                <a:solidFill>
                  <a:srgbClr val="6C6A5F"/>
                </a:solidFill>
                <a:latin typeface="Consolas"/>
              </a:rPr>
              <a:t>geobard — turn GeoJSON into prose</a:t>
            </a:r>
            <a:r>
              <a:rPr sz="1000" b="0">
                <a:solidFill>
                  <a:srgbClr val="6C6A5F"/>
                </a:solidFill>
                <a:latin typeface="Consolas"/>
              </a:rPr>
              <a:t>   ·   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E1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02920"/>
            <a:ext cx="7315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1">
                <a:solidFill>
                  <a:srgbClr val="1FA890"/>
                </a:solidFill>
                <a:latin typeface="Consolas"/>
              </a:rPr>
              <a:t>BEYOND GHOSTS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51560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4000" b="1">
                <a:solidFill>
                  <a:srgbClr val="E9E3D3"/>
                </a:solidFill>
                <a:latin typeface="Georgia"/>
              </a:rPr>
              <a:t>Anywhere a map needs a voice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2103120"/>
            <a:ext cx="5120640" cy="1737360"/>
          </a:xfrm>
          <a:prstGeom prst="roundRect">
            <a:avLst/>
          </a:prstGeom>
          <a:solidFill>
            <a:srgbClr val="101521"/>
          </a:solidFill>
          <a:ln w="12700">
            <a:solidFill>
              <a:srgbClr val="242C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78992" y="2286000"/>
            <a:ext cx="45720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900" b="1">
                <a:solidFill>
                  <a:srgbClr val="6ECDBD"/>
                </a:solidFill>
                <a:latin typeface="Georgia"/>
              </a:rPr>
              <a:t>Games &amp; VTT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8992" y="2788920"/>
            <a:ext cx="461772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450" b="0">
                <a:solidFill>
                  <a:srgbClr val="96917F"/>
                </a:solidFill>
                <a:latin typeface="Georgia"/>
              </a:rPr>
              <a:t>scene descriptions for NPCs, boxed text for game masters, image prompts for battle-map art.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09360" y="2103120"/>
            <a:ext cx="5120640" cy="1737360"/>
          </a:xfrm>
          <a:prstGeom prst="roundRect">
            <a:avLst/>
          </a:prstGeom>
          <a:solidFill>
            <a:srgbClr val="101521"/>
          </a:solidFill>
          <a:ln w="12700">
            <a:solidFill>
              <a:srgbClr val="242C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65392" y="2286000"/>
            <a:ext cx="45720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900" b="1">
                <a:solidFill>
                  <a:srgbClr val="6ECDBD"/>
                </a:solidFill>
                <a:latin typeface="Georgia"/>
              </a:rPr>
              <a:t>Accessibility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65392" y="2788920"/>
            <a:ext cx="461772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450" b="0">
                <a:solidFill>
                  <a:srgbClr val="96917F"/>
                </a:solidFill>
                <a:latin typeface="Georgia"/>
              </a:rPr>
              <a:t>describe real surroundings aloud — human terms, no jargon — from any geodata source.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4069079"/>
            <a:ext cx="5120640" cy="1737360"/>
          </a:xfrm>
          <a:prstGeom prst="roundRect">
            <a:avLst/>
          </a:prstGeom>
          <a:solidFill>
            <a:srgbClr val="101521"/>
          </a:solidFill>
          <a:ln w="12700">
            <a:solidFill>
              <a:srgbClr val="242C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78992" y="4251959"/>
            <a:ext cx="45720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900" b="1">
                <a:solidFill>
                  <a:srgbClr val="6ECDBD"/>
                </a:solidFill>
                <a:latin typeface="Georgia"/>
              </a:rPr>
              <a:t>Tourism &amp; storytelling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78992" y="4754879"/>
            <a:ext cx="461772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450" b="0">
                <a:solidFill>
                  <a:srgbClr val="96917F"/>
                </a:solidFill>
                <a:latin typeface="Georgia"/>
              </a:rPr>
              <a:t>guides that narrate a city the way a local would, tuned per neighbourhood voice.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309360" y="4069079"/>
            <a:ext cx="5120640" cy="1737360"/>
          </a:xfrm>
          <a:prstGeom prst="roundRect">
            <a:avLst/>
          </a:prstGeom>
          <a:solidFill>
            <a:srgbClr val="101521"/>
          </a:solidFill>
          <a:ln w="12700">
            <a:solidFill>
              <a:srgbClr val="242C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65392" y="4251959"/>
            <a:ext cx="45720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900" b="1">
                <a:solidFill>
                  <a:srgbClr val="6ECDBD"/>
                </a:solidFill>
                <a:latin typeface="Georgia"/>
              </a:rPr>
              <a:t>Agent research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65392" y="4754879"/>
            <a:ext cx="461772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450" b="0">
                <a:solidFill>
                  <a:srgbClr val="96917F"/>
                </a:solidFill>
                <a:latin typeface="Georgia"/>
              </a:rPr>
              <a:t>grounded perception for LLM agents: same world, comparable senses, swappable narrator models.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6035040"/>
            <a:ext cx="10515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0">
                <a:solidFill>
                  <a:srgbClr val="6C6A5F"/>
                </a:solidFill>
                <a:latin typeface="Georgia"/>
              </a:rPr>
              <a:t>It's the engine behind EyeOnWorld — packaged for everyone else.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" y="6419088"/>
            <a:ext cx="10515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>
                <a:solidFill>
                  <a:srgbClr val="6C6A5F"/>
                </a:solidFill>
                <a:latin typeface="Consolas"/>
              </a:rPr>
              <a:t>geobard — turn GeoJSON into prose</a:t>
            </a:r>
            <a:r>
              <a:rPr sz="1000" b="0">
                <a:solidFill>
                  <a:srgbClr val="6C6A5F"/>
                </a:solidFill>
                <a:latin typeface="Consolas"/>
              </a:rPr>
              <a:t>   ·   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E1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02920"/>
            <a:ext cx="7315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1">
                <a:solidFill>
                  <a:srgbClr val="1FA890"/>
                </a:solidFill>
                <a:latin typeface="Consolas"/>
              </a:rPr>
              <a:t>ROADMAP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51560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4000" b="1">
                <a:solidFill>
                  <a:srgbClr val="E9E3D3"/>
                </a:solidFill>
                <a:latin typeface="Georgia"/>
              </a:rPr>
              <a:t>Where it goes next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103120"/>
            <a:ext cx="10515600" cy="4206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800" b="1">
                <a:solidFill>
                  <a:srgbClr val="6ECDBD"/>
                </a:solidFill>
                <a:latin typeface="Consolas"/>
              </a:rPr>
              <a:t>▸ </a:t>
            </a:r>
            <a:r>
              <a:rPr sz="1800" b="1">
                <a:solidFill>
                  <a:srgbClr val="E9E3D3"/>
                </a:solidFill>
                <a:latin typeface="Georgia"/>
              </a:rPr>
              <a:t>Streaming</a:t>
            </a:r>
            <a:r>
              <a:rPr sz="1800" b="0">
                <a:solidFill>
                  <a:srgbClr val="96917F"/>
                </a:solidFill>
                <a:latin typeface="Georgia"/>
              </a:rPr>
              <a:t>  —  narrate as tokens arrive — perception with latency of a heartbeat, not a page load.</a:t>
            </a:r>
          </a:p>
          <a:p>
            <a:pPr algn="l">
              <a:lnSpc>
                <a:spcPct val="150000"/>
              </a:lnSpc>
            </a:pPr>
            <a:r>
              <a:rPr sz="1800" b="1">
                <a:solidFill>
                  <a:srgbClr val="6ECDBD"/>
                </a:solidFill>
                <a:latin typeface="Consolas"/>
              </a:rPr>
              <a:t>▸ </a:t>
            </a:r>
            <a:r>
              <a:rPr sz="1800" b="1">
                <a:solidFill>
                  <a:srgbClr val="E9E3D3"/>
                </a:solidFill>
                <a:latin typeface="Georgia"/>
              </a:rPr>
              <a:t>Scene caching</a:t>
            </a:r>
            <a:r>
              <a:rPr sz="1800" b="0">
                <a:solidFill>
                  <a:srgbClr val="96917F"/>
                </a:solidFill>
                <a:latin typeface="Georgia"/>
              </a:rPr>
              <a:t>  —  hash the (geojson, voice, detail) triple; a world mostly repeats itself.</a:t>
            </a:r>
          </a:p>
          <a:p>
            <a:pPr algn="l">
              <a:lnSpc>
                <a:spcPct val="150000"/>
              </a:lnSpc>
            </a:pPr>
            <a:r>
              <a:rPr sz="1800" b="1">
                <a:solidFill>
                  <a:srgbClr val="6ECDBD"/>
                </a:solidFill>
                <a:latin typeface="Consolas"/>
              </a:rPr>
              <a:t>▸ </a:t>
            </a:r>
            <a:r>
              <a:rPr sz="1800" b="1">
                <a:solidFill>
                  <a:srgbClr val="E9E3D3"/>
                </a:solidFill>
                <a:latin typeface="Georgia"/>
              </a:rPr>
              <a:t>Voice presets</a:t>
            </a:r>
            <a:r>
              <a:rPr sz="1800" b="0">
                <a:solidFill>
                  <a:srgbClr val="96917F"/>
                </a:solidFill>
                <a:latin typeface="Georgia"/>
              </a:rPr>
              <a:t>  —  named, versioned culture voices — shareable between worlds and projects.</a:t>
            </a:r>
          </a:p>
          <a:p>
            <a:pPr algn="l">
              <a:lnSpc>
                <a:spcPct val="150000"/>
              </a:lnSpc>
            </a:pPr>
            <a:r>
              <a:rPr sz="1800" b="1">
                <a:solidFill>
                  <a:srgbClr val="6ECDBD"/>
                </a:solidFill>
                <a:latin typeface="Consolas"/>
              </a:rPr>
              <a:t>▸ </a:t>
            </a:r>
            <a:r>
              <a:rPr sz="1800" b="1">
                <a:solidFill>
                  <a:srgbClr val="E9E3D3"/>
                </a:solidFill>
                <a:latin typeface="Georgia"/>
              </a:rPr>
              <a:t>BYO engine per request</a:t>
            </a:r>
            <a:r>
              <a:rPr sz="1800" b="0">
                <a:solidFill>
                  <a:srgbClr val="96917F"/>
                </a:solidFill>
                <a:latin typeface="Georgia"/>
              </a:rPr>
              <a:t>  —  callers bring their own model + key, like everything else in GaiaWM.</a:t>
            </a:r>
          </a:p>
          <a:p>
            <a:pPr algn="l">
              <a:lnSpc>
                <a:spcPct val="150000"/>
              </a:lnSpc>
            </a:pPr>
            <a:r>
              <a:rPr sz="1800" b="1">
                <a:solidFill>
                  <a:srgbClr val="6ECDBD"/>
                </a:solidFill>
                <a:latin typeface="Consolas"/>
              </a:rPr>
              <a:t>▸ </a:t>
            </a:r>
            <a:r>
              <a:rPr sz="1800" b="1">
                <a:solidFill>
                  <a:srgbClr val="E9E3D3"/>
                </a:solidFill>
                <a:latin typeface="Georgia"/>
              </a:rPr>
              <a:t>The inspector sibling</a:t>
            </a:r>
            <a:r>
              <a:rPr sz="1800" b="0">
                <a:solidFill>
                  <a:srgbClr val="96917F"/>
                </a:solidFill>
                <a:latin typeface="Georgia"/>
              </a:rPr>
              <a:t>  —  same treatment for affordance extraction — geobard says what is there, the inspector says what you could do with it.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6419088"/>
            <a:ext cx="10515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>
                <a:solidFill>
                  <a:srgbClr val="6C6A5F"/>
                </a:solidFill>
                <a:latin typeface="Consolas"/>
              </a:rPr>
              <a:t>geobard — turn GeoJSON into prose</a:t>
            </a:r>
            <a:r>
              <a:rPr sz="1000" b="0">
                <a:solidFill>
                  <a:srgbClr val="6C6A5F"/>
                </a:solidFill>
                <a:latin typeface="Consolas"/>
              </a:rPr>
              <a:t>   ·   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E1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286000"/>
            <a:ext cx="105156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200" b="0">
                <a:solidFill>
                  <a:srgbClr val="96917F"/>
                </a:solidFill>
                <a:latin typeface="Georgia"/>
              </a:rPr>
              <a:t>The world is data.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3108960"/>
            <a:ext cx="105156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4000" b="1">
                <a:solidFill>
                  <a:srgbClr val="E9E3D3"/>
                </a:solidFill>
                <a:latin typeface="Georgia"/>
              </a:rPr>
              <a:t>Perception is prose.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4663440"/>
            <a:ext cx="1051560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60000"/>
              </a:lnSpc>
            </a:pPr>
            <a:r>
              <a:rPr sz="1800" b="1">
                <a:solidFill>
                  <a:srgbClr val="6ECDBD"/>
                </a:solidFill>
                <a:latin typeface="Consolas"/>
              </a:rPr>
              <a:t>github.com/openfantasymap/geobard</a:t>
            </a:r>
          </a:p>
          <a:p>
            <a:pPr algn="l">
              <a:lnSpc>
                <a:spcPct val="160000"/>
              </a:lnSpc>
            </a:pPr>
            <a:r>
              <a:rPr sz="1800" b="0">
                <a:solidFill>
                  <a:srgbClr val="96917F"/>
                </a:solidFill>
                <a:latin typeface="Consolas"/>
              </a:rPr>
              <a:t>gaiawm.github.io   ·   ghostkit   ·   ghostdeck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6419088"/>
            <a:ext cx="10515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>
                <a:solidFill>
                  <a:srgbClr val="6C6A5F"/>
                </a:solidFill>
                <a:latin typeface="Consolas"/>
              </a:rPr>
              <a:t>geobard — turn GeoJSON into prose</a:t>
            </a:r>
            <a:r>
              <a:rPr sz="1000" b="0">
                <a:solidFill>
                  <a:srgbClr val="6C6A5F"/>
                </a:solidFill>
                <a:latin typeface="Consolas"/>
              </a:rPr>
              <a:t>   ·   14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